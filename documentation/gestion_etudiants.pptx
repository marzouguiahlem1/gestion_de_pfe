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D6B5C"/>
          </a:solidFill>
          <a:ln w="12700">
            <a:solidFill>
              <a:srgbClr val="3D6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2A4A3E">
              <a:alpha val="45000"/>
            </a:srgbClr>
          </a:solidFill>
          <a:ln w="12700">
            <a:solidFill>
              <a:srgbClr val="2A4A3E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926080"/>
            <a:ext cx="2560320" cy="2560320"/>
          </a:xfrm>
          <a:prstGeom prst="ellipse">
            <a:avLst/>
          </a:prstGeom>
          <a:solidFill>
            <a:srgbClr val="3D6B5C">
              <a:alpha val="35000"/>
            </a:srgbClr>
          </a:solidFill>
          <a:ln w="12700">
            <a:solidFill>
              <a:srgbClr val="3D6B5C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2194560" cy="320040"/>
          </a:xfrm>
          <a:prstGeom prst="rect">
            <a:avLst>
              <a:gd name="adj" fmla="val 14286"/>
            </a:avLst>
          </a:prstGeom>
          <a:solidFill>
            <a:srgbClr val="3D6B5C"/>
          </a:solidFill>
          <a:ln w="12700">
            <a:solidFill>
              <a:srgbClr val="3D6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8F0EE"/>
                </a:solidFill>
              </a:rPr>
              <a:t>COORDONNATEUR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Système de Gestion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8FA8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 Étudiants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comptes · Stockage MySQL · Interface PHP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1097280" cy="36576"/>
          </a:xfrm>
          <a:prstGeom prst="rect">
            <a:avLst/>
          </a:prstGeom>
          <a:solidFill>
            <a:srgbClr val="3D6B5C"/>
          </a:solidFill>
          <a:ln w="12700">
            <a:solidFill>
              <a:srgbClr val="3D6B5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A4A3E"/>
          </a:solidFill>
          <a:ln w="12700">
            <a:solidFill>
              <a:srgbClr val="2A4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du projet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2743200" cy="502920"/>
          </a:xfrm>
          <a:prstGeom prst="rect">
            <a:avLst/>
          </a:prstGeom>
          <a:solidFill>
            <a:srgbClr val="2A4A3E"/>
          </a:solidFill>
          <a:ln w="12700">
            <a:solidFill>
              <a:srgbClr val="2A4A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⟨/⟩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21208" y="2377440"/>
            <a:ext cx="91440" cy="91440"/>
          </a:xfrm>
          <a:prstGeom prst="ellipse">
            <a:avLst/>
          </a:prstGeom>
          <a:solidFill>
            <a:srgbClr val="2A4A3E"/>
          </a:solidFill>
          <a:ln w="12700">
            <a:solidFill>
              <a:srgbClr val="2A4A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4086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de saisie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1208" y="2907792"/>
            <a:ext cx="91440" cy="91440"/>
          </a:xfrm>
          <a:prstGeom prst="ellipse">
            <a:avLst/>
          </a:prstGeom>
          <a:solidFill>
            <a:srgbClr val="2A4A3E"/>
          </a:solidFill>
          <a:ln w="12700">
            <a:solidFill>
              <a:srgbClr val="2A4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87121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côté client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1208" y="3438144"/>
            <a:ext cx="91440" cy="91440"/>
          </a:xfrm>
          <a:prstGeom prst="ellipse">
            <a:avLst/>
          </a:prstGeom>
          <a:solidFill>
            <a:srgbClr val="2A4A3E"/>
          </a:solidFill>
          <a:ln w="12700">
            <a:solidFill>
              <a:srgbClr val="2A4A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4015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de mot de passe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1208" y="3968496"/>
            <a:ext cx="91440" cy="91440"/>
          </a:xfrm>
          <a:prstGeom prst="ellipse">
            <a:avLst/>
          </a:prstGeom>
          <a:solidFill>
            <a:srgbClr val="2A4A3E"/>
          </a:solidFill>
          <a:ln w="12700">
            <a:solidFill>
              <a:srgbClr val="2A4A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9319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fetch() vers PHP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64408" y="118872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64408" y="1188720"/>
            <a:ext cx="2743200" cy="502920"/>
          </a:xfrm>
          <a:prstGeom prst="rect">
            <a:avLst/>
          </a:prstGeom>
          <a:solidFill>
            <a:srgbClr val="3D6B5C"/>
          </a:solidFill>
          <a:ln w="12700">
            <a:solidFill>
              <a:srgbClr val="3D6B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64408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{ }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64408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Backend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465576" y="2377440"/>
            <a:ext cx="91440" cy="91440"/>
          </a:xfrm>
          <a:prstGeom prst="ellipse">
            <a:avLst/>
          </a:prstGeom>
          <a:solidFill>
            <a:srgbClr val="3D6B5C"/>
          </a:solidFill>
          <a:ln w="12700">
            <a:solidFill>
              <a:srgbClr val="3D6B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30168" y="234086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serveur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65576" y="2907792"/>
            <a:ext cx="91440" cy="91440"/>
          </a:xfrm>
          <a:prstGeom prst="ellipse">
            <a:avLst/>
          </a:prstGeom>
          <a:solidFill>
            <a:srgbClr val="3D6B5C"/>
          </a:solidFill>
          <a:ln w="12700">
            <a:solidFill>
              <a:srgbClr val="3D6B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30168" y="287121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Hashage bcrypt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65576" y="3438144"/>
            <a:ext cx="91440" cy="91440"/>
          </a:xfrm>
          <a:prstGeom prst="ellipse">
            <a:avLst/>
          </a:prstGeom>
          <a:solidFill>
            <a:srgbClr val="3D6B5C"/>
          </a:solidFill>
          <a:ln w="12700">
            <a:solidFill>
              <a:srgbClr val="3D6B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30168" y="34015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PDO préparées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65576" y="3968496"/>
            <a:ext cx="91440" cy="91440"/>
          </a:xfrm>
          <a:prstGeom prst="ellipse">
            <a:avLst/>
          </a:prstGeom>
          <a:solidFill>
            <a:srgbClr val="3D6B5C"/>
          </a:solidFill>
          <a:ln w="12700">
            <a:solidFill>
              <a:srgbClr val="3D6B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0168" y="39319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JSON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08776" y="118872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08776" y="1188720"/>
            <a:ext cx="2743200" cy="502920"/>
          </a:xfrm>
          <a:prstGeom prst="rect">
            <a:avLst/>
          </a:prstGeom>
          <a:solidFill>
            <a:srgbClr val="1A5C48"/>
          </a:solidFill>
          <a:ln w="12700">
            <a:solidFill>
              <a:srgbClr val="1A5C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08776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⊞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208776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09944" y="2377440"/>
            <a:ext cx="91440" cy="91440"/>
          </a:xfrm>
          <a:prstGeom prst="ellipse">
            <a:avLst/>
          </a:prstGeom>
          <a:solidFill>
            <a:srgbClr val="1A5C48"/>
          </a:solidFill>
          <a:ln w="12700">
            <a:solidFill>
              <a:srgbClr val="1A5C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74536" y="234086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`etudiants`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9944" y="2907792"/>
            <a:ext cx="91440" cy="91440"/>
          </a:xfrm>
          <a:prstGeom prst="ellipse">
            <a:avLst/>
          </a:prstGeom>
          <a:solidFill>
            <a:srgbClr val="1A5C48"/>
          </a:solidFill>
          <a:ln w="12700">
            <a:solidFill>
              <a:srgbClr val="1A5C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4536" y="287121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UNIQUE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9944" y="3438144"/>
            <a:ext cx="91440" cy="91440"/>
          </a:xfrm>
          <a:prstGeom prst="ellipse">
            <a:avLst/>
          </a:prstGeom>
          <a:solidFill>
            <a:srgbClr val="1A5C48"/>
          </a:solidFill>
          <a:ln w="12700">
            <a:solidFill>
              <a:srgbClr val="1A5C4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74536" y="34015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optimisés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09944" y="3968496"/>
            <a:ext cx="91440" cy="91440"/>
          </a:xfrm>
          <a:prstGeom prst="ellipse">
            <a:avLst/>
          </a:prstGeom>
          <a:solidFill>
            <a:srgbClr val="1A5C48"/>
          </a:solidFill>
          <a:ln w="12700">
            <a:solidFill>
              <a:srgbClr val="1A5C4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74536" y="39319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utf8mb4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081528" y="2926080"/>
            <a:ext cx="182880" cy="36576"/>
          </a:xfrm>
          <a:prstGeom prst="rect">
            <a:avLst/>
          </a:prstGeom>
          <a:solidFill>
            <a:srgbClr val="3D6B5C"/>
          </a:solidFill>
          <a:ln w="12700">
            <a:solidFill>
              <a:srgbClr val="3D6B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35808" y="28346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D6B5C"/>
                </a:solidFill>
              </a:rPr>
              <a:t>→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025896" y="2926080"/>
            <a:ext cx="182880" cy="36576"/>
          </a:xfrm>
          <a:prstGeom prst="rect">
            <a:avLst/>
          </a:prstGeom>
          <a:solidFill>
            <a:srgbClr val="3D6B5C"/>
          </a:solidFill>
          <a:ln w="12700">
            <a:solidFill>
              <a:srgbClr val="3D6B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80176" y="28346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D6B5C"/>
                </a:solidFill>
              </a:rPr>
              <a:t>→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25"/>
          </a:solidFill>
          <a:ln w="12700">
            <a:solidFill>
              <a:srgbClr val="1A2E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fichiers du projet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09728" cy="713232"/>
          </a:xfrm>
          <a:prstGeom prst="rect">
            <a:avLst/>
          </a:prstGeom>
          <a:solidFill>
            <a:srgbClr val="2A4A3E"/>
          </a:solidFill>
          <a:ln w="12700">
            <a:solidFill>
              <a:srgbClr val="2A4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143000"/>
            <a:ext cx="8321040" cy="713232"/>
          </a:xfrm>
          <a:prstGeom prst="rect">
            <a:avLst/>
          </a:prstGeom>
          <a:solidFill>
            <a:srgbClr val="F5F3EF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978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4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527048"/>
            <a:ext cx="2011680" cy="237744"/>
          </a:xfrm>
          <a:prstGeom prst="rect">
            <a:avLst/>
          </a:prstGeom>
          <a:solidFill>
            <a:srgbClr val="2A4A3E">
              <a:alpha val="15000"/>
            </a:srgbClr>
          </a:solidFill>
          <a:ln w="12700">
            <a:solidFill>
              <a:srgbClr val="2A4A3E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270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2A4A3E"/>
                </a:solidFill>
              </a:rPr>
              <a:t>Interface utilisateur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0" y="1234440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+ validation JS + affichage des erreurs retournées par PHP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075688"/>
            <a:ext cx="109728" cy="713232"/>
          </a:xfrm>
          <a:prstGeom prst="rect">
            <a:avLst/>
          </a:prstGeom>
          <a:solidFill>
            <a:srgbClr val="3D6B5C"/>
          </a:solidFill>
          <a:ln w="12700">
            <a:solidFill>
              <a:srgbClr val="3D6B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2075688"/>
            <a:ext cx="8321040" cy="713232"/>
          </a:xfrm>
          <a:prstGeom prst="rect">
            <a:avLst/>
          </a:prstGeom>
          <a:solidFill>
            <a:srgbClr val="F5F3EF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1305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save_etudiant.php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459736"/>
            <a:ext cx="2011680" cy="237744"/>
          </a:xfrm>
          <a:prstGeom prst="rect">
            <a:avLst/>
          </a:prstGeom>
          <a:solidFill>
            <a:srgbClr val="3D6B5C">
              <a:alpha val="15000"/>
            </a:srgbClr>
          </a:solidFill>
          <a:ln w="12700">
            <a:solidFill>
              <a:srgbClr val="3D6B5C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45973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3D6B5C"/>
                </a:solidFill>
              </a:rPr>
              <a:t>Traitement &amp; sauvegarde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26080" y="2167128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hashage bcrypt, détection doublons, insertion PDO en base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008376"/>
            <a:ext cx="109728" cy="713232"/>
          </a:xfrm>
          <a:prstGeom prst="rect">
            <a:avLst/>
          </a:prstGeom>
          <a:solidFill>
            <a:srgbClr val="1A5C48"/>
          </a:solidFill>
          <a:ln w="12700">
            <a:solidFill>
              <a:srgbClr val="1A5C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3008376"/>
            <a:ext cx="8321040" cy="713232"/>
          </a:xfrm>
          <a:prstGeom prst="rect">
            <a:avLst/>
          </a:prstGeom>
          <a:solidFill>
            <a:srgbClr val="F5F3EF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0632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config.php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392424"/>
            <a:ext cx="2011680" cy="237744"/>
          </a:xfrm>
          <a:prstGeom prst="rect">
            <a:avLst/>
          </a:prstGeom>
          <a:solidFill>
            <a:srgbClr val="1A5C48">
              <a:alpha val="15000"/>
            </a:srgbClr>
          </a:solidFill>
          <a:ln w="12700">
            <a:solidFill>
              <a:srgbClr val="1A5C48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3924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A5C48"/>
                </a:solidFill>
              </a:rPr>
              <a:t>Connexion base de données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926080" y="3099816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PDO : hôte, nom BDD, utilisateur, mot de passe MySQL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941064"/>
            <a:ext cx="109728" cy="713232"/>
          </a:xfrm>
          <a:prstGeom prst="rect">
            <a:avLst/>
          </a:prstGeom>
          <a:solidFill>
            <a:srgbClr val="124035"/>
          </a:solidFill>
          <a:ln w="12700">
            <a:solidFill>
              <a:srgbClr val="1240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3941064"/>
            <a:ext cx="8321040" cy="713232"/>
          </a:xfrm>
          <a:prstGeom prst="rect">
            <a:avLst/>
          </a:prstGeom>
          <a:solidFill>
            <a:srgbClr val="F5F3EF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9959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40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database.sql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4325112"/>
            <a:ext cx="2011680" cy="237744"/>
          </a:xfrm>
          <a:prstGeom prst="rect">
            <a:avLst/>
          </a:prstGeom>
          <a:solidFill>
            <a:srgbClr val="124035">
              <a:alpha val="15000"/>
            </a:srgbClr>
          </a:solidFill>
          <a:ln w="12700">
            <a:solidFill>
              <a:srgbClr val="124035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3251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24035"/>
                </a:solidFill>
              </a:rPr>
              <a:t>Schéma SQL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926080" y="4032504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 etudiants avec index sur email et matricule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A4A3E"/>
          </a:solidFill>
          <a:ln w="12700">
            <a:solidFill>
              <a:srgbClr val="2A4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formulaire — index.html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206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258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Prénom / Nom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36192"/>
            <a:ext cx="3840480" cy="274320"/>
          </a:xfrm>
          <a:prstGeom prst="rect">
            <a:avLst/>
          </a:prstGeom>
          <a:solidFill>
            <a:srgbClr val="F5F3EF"/>
          </a:solidFill>
          <a:ln w="12700">
            <a:solidFill>
              <a:srgbClr val="D0CC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745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e-mail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2084832"/>
            <a:ext cx="3840480" cy="274320"/>
          </a:xfrm>
          <a:prstGeom prst="rect">
            <a:avLst/>
          </a:prstGeom>
          <a:solidFill>
            <a:srgbClr val="F5F3EF"/>
          </a:solidFill>
          <a:ln w="12700">
            <a:solidFill>
              <a:srgbClr val="D0CC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231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Matricule / Niveau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633472"/>
            <a:ext cx="3840480" cy="274320"/>
          </a:xfrm>
          <a:prstGeom prst="rect">
            <a:avLst/>
          </a:prstGeom>
          <a:solidFill>
            <a:srgbClr val="F5F3EF"/>
          </a:solidFill>
          <a:ln w="12700">
            <a:solidFill>
              <a:srgbClr val="D0CC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718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Filière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3182112"/>
            <a:ext cx="3840480" cy="274320"/>
          </a:xfrm>
          <a:prstGeom prst="rect">
            <a:avLst/>
          </a:prstGeom>
          <a:solidFill>
            <a:srgbClr val="F5F3EF"/>
          </a:solidFill>
          <a:ln w="12700">
            <a:solidFill>
              <a:srgbClr val="D0CC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204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730752"/>
            <a:ext cx="3840480" cy="274320"/>
          </a:xfrm>
          <a:prstGeom prst="rect">
            <a:avLst/>
          </a:prstGeom>
          <a:solidFill>
            <a:srgbClr val="F5F3EF"/>
          </a:solidFill>
          <a:ln w="12700">
            <a:solidFill>
              <a:srgbClr val="D0CC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187952"/>
            <a:ext cx="3840480" cy="384048"/>
          </a:xfrm>
          <a:prstGeom prst="rect">
            <a:avLst/>
          </a:prstGeom>
          <a:solidFill>
            <a:srgbClr val="2A4A3E"/>
          </a:solidFill>
          <a:ln w="12700">
            <a:solidFill>
              <a:srgbClr val="2A4A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1879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Créer le compte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92040" y="1252728"/>
            <a:ext cx="146304" cy="146304"/>
          </a:xfrm>
          <a:prstGeom prst="ellipse">
            <a:avLst/>
          </a:prstGeom>
          <a:solidFill>
            <a:srgbClr val="3D6B5C"/>
          </a:solidFill>
          <a:ln w="12700">
            <a:solidFill>
              <a:srgbClr val="3D6B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38928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en temps réel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38928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champ est vérifié côté client avant envoi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2002536"/>
            <a:ext cx="146304" cy="146304"/>
          </a:xfrm>
          <a:prstGeom prst="ellipse">
            <a:avLst/>
          </a:prstGeom>
          <a:solidFill>
            <a:srgbClr val="3D6B5C"/>
          </a:solidFill>
          <a:ln w="12700">
            <a:solidFill>
              <a:srgbClr val="3D6B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38928" y="1892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de force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38928" y="21671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niveaux : faible → très fort avec barre colorée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2752344"/>
            <a:ext cx="146304" cy="146304"/>
          </a:xfrm>
          <a:prstGeom prst="ellipse">
            <a:avLst/>
          </a:prstGeom>
          <a:solidFill>
            <a:srgbClr val="3D6B5C"/>
          </a:solidFill>
          <a:ln w="12700">
            <a:solidFill>
              <a:srgbClr val="3D6B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38928" y="26426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Afficher/masquer MDP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38928" y="291693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toggle sur les deux champs de mot de passe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92040" y="3502152"/>
            <a:ext cx="146304" cy="146304"/>
          </a:xfrm>
          <a:prstGeom prst="ellipse">
            <a:avLst/>
          </a:prstGeom>
          <a:solidFill>
            <a:srgbClr val="3D6B5C"/>
          </a:solidFill>
          <a:ln w="12700">
            <a:solidFill>
              <a:srgbClr val="3D6B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38928" y="33924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d'erreur PHP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38928" y="366674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erreurs serveur (doublon, etc.) s'affichent inline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4251960"/>
            <a:ext cx="146304" cy="146304"/>
          </a:xfrm>
          <a:prstGeom prst="ellipse">
            <a:avLst/>
          </a:prstGeom>
          <a:solidFill>
            <a:srgbClr val="3D6B5C"/>
          </a:solidFill>
          <a:ln w="12700">
            <a:solidFill>
              <a:srgbClr val="3D6B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38928" y="4142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inscrits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38928" y="44165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des étudiants ajoutés s'affiche après création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25"/>
          </a:solidFill>
          <a:ln w="12700">
            <a:solidFill>
              <a:srgbClr val="1A2E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 de données MySQL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97280"/>
          <a:ext cx="8503920" cy="374904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1280160"/>
                <a:gridCol w="438912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Colonne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Contrainte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3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4A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UNSIGNED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Identifiant auto-incrémenté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4A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prenom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Prénom de l'étudiant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4A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 de famille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4A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email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VARCHAR(255)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Adresse e-mail (login)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4A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matricule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VARCHAR(50)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Numéro matricule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4A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niveau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VARCHAR(50)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Licence 1 → Doctorat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4A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filiere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Domaine d'études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4A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mot_de_passe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VARCHAR(255)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 bcrypt (jamais en clair)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4A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actif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TINYINT(1)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Compte activé/désactivé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A4A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created_at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NOW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de création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D6B5C"/>
          </a:solidFill>
          <a:ln w="12700">
            <a:solidFill>
              <a:srgbClr val="3D6B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Sécurité implémentée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502920" cy="1691640"/>
          </a:xfrm>
          <a:prstGeom prst="rect">
            <a:avLst/>
          </a:prstGeom>
          <a:solidFill>
            <a:srgbClr val="2A4A3E"/>
          </a:solidFill>
          <a:ln w="12700">
            <a:solidFill>
              <a:srgbClr val="2A4A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4300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Hashage bcrypt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mot de passe n'est jamais stocké en clair. password_hash() avec cost=12 est utilisé côté PHP avant l'insertion.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14300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43000"/>
            <a:ext cx="502920" cy="1691640"/>
          </a:xfrm>
          <a:prstGeom prst="rect">
            <a:avLst/>
          </a:prstGeom>
          <a:solidFill>
            <a:srgbClr val="3D6B5C"/>
          </a:solidFill>
          <a:ln w="12700">
            <a:solidFill>
              <a:srgbClr val="3D6B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4300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4068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PDO préparées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40680" y="16459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requêtes SQL utilisent des paramètres liés. Aucune concaténation de chaîne — injection SQL impossible.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017520"/>
            <a:ext cx="502920" cy="1691640"/>
          </a:xfrm>
          <a:prstGeom prst="rect">
            <a:avLst/>
          </a:prstGeom>
          <a:solidFill>
            <a:srgbClr val="1A5C48"/>
          </a:solidFill>
          <a:ln w="12700">
            <a:solidFill>
              <a:srgbClr val="1A5C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01752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14400" y="3154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double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5204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validation est effectuée côté client (JS) ET côté serveur (PHP). Un attaquant qui contourne le JS est toujours bloqué.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301752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3017520"/>
            <a:ext cx="502920" cy="1691640"/>
          </a:xfrm>
          <a:prstGeom prst="rect">
            <a:avLst/>
          </a:prstGeom>
          <a:solidFill>
            <a:srgbClr val="124035"/>
          </a:solidFill>
          <a:ln w="12700">
            <a:solidFill>
              <a:srgbClr val="1240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01752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40680" y="3154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4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 doublons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35204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et matricule ont une contrainte UNIQUE en base. PHP retourne un message d'erreur précis par champ dupliqué.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A4A3E"/>
          </a:solidFill>
          <a:ln w="12700">
            <a:solidFill>
              <a:srgbClr val="2A4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Installation &amp; déploiement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216152"/>
            <a:ext cx="438912" cy="438912"/>
          </a:xfrm>
          <a:prstGeom prst="ellipse">
            <a:avLst/>
          </a:prstGeom>
          <a:solidFill>
            <a:srgbClr val="2A4A3E"/>
          </a:solidFill>
          <a:ln w="12700">
            <a:solidFill>
              <a:srgbClr val="2A4A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216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25780" y="1655064"/>
            <a:ext cx="18288" cy="256032"/>
          </a:xfrm>
          <a:prstGeom prst="rect">
            <a:avLst/>
          </a:prstGeom>
          <a:solidFill>
            <a:srgbClr val="8FA89F"/>
          </a:solidFill>
          <a:ln w="12700">
            <a:solidFill>
              <a:srgbClr val="8FA8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19786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Importer la base de données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1472184"/>
            <a:ext cx="7863840" cy="274320"/>
          </a:xfrm>
          <a:prstGeom prst="rect">
            <a:avLst/>
          </a:prstGeom>
          <a:solidFill>
            <a:srgbClr val="F5F3EF"/>
          </a:solidFill>
          <a:ln w="12700">
            <a:solidFill>
              <a:srgbClr val="D8D5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47218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phpMyAdmin → Importer → database.sql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984248"/>
            <a:ext cx="438912" cy="438912"/>
          </a:xfrm>
          <a:prstGeom prst="ellipse">
            <a:avLst/>
          </a:prstGeom>
          <a:solidFill>
            <a:srgbClr val="2A4A3E"/>
          </a:solidFill>
          <a:ln w="12700">
            <a:solidFill>
              <a:srgbClr val="2A4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984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25780" y="2423160"/>
            <a:ext cx="18288" cy="256032"/>
          </a:xfrm>
          <a:prstGeom prst="rect">
            <a:avLst/>
          </a:prstGeom>
          <a:solidFill>
            <a:srgbClr val="8FA89F"/>
          </a:solidFill>
          <a:ln w="12700">
            <a:solidFill>
              <a:srgbClr val="8FA89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9659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Configurer config.php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2240280"/>
            <a:ext cx="7863840" cy="274320"/>
          </a:xfrm>
          <a:prstGeom prst="rect">
            <a:avLst/>
          </a:prstGeom>
          <a:solidFill>
            <a:srgbClr val="F5F3EF"/>
          </a:solidFill>
          <a:ln w="12700">
            <a:solidFill>
              <a:srgbClr val="D8D5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2402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DB_USER / DB_PASS selon votre XAMPP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752344"/>
            <a:ext cx="438912" cy="438912"/>
          </a:xfrm>
          <a:prstGeom prst="ellipse">
            <a:avLst/>
          </a:prstGeom>
          <a:solidFill>
            <a:srgbClr val="2A4A3E"/>
          </a:solidFill>
          <a:ln w="12700">
            <a:solidFill>
              <a:srgbClr val="2A4A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752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25780" y="3191256"/>
            <a:ext cx="18288" cy="256032"/>
          </a:xfrm>
          <a:prstGeom prst="rect">
            <a:avLst/>
          </a:prstGeom>
          <a:solidFill>
            <a:srgbClr val="8FA89F"/>
          </a:solidFill>
          <a:ln w="12700">
            <a:solidFill>
              <a:srgbClr val="8FA89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73405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 les fichiers dans htdocs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" y="3008376"/>
            <a:ext cx="7863840" cy="274320"/>
          </a:xfrm>
          <a:prstGeom prst="rect">
            <a:avLst/>
          </a:prstGeom>
          <a:solidFill>
            <a:srgbClr val="F5F3EF"/>
          </a:solidFill>
          <a:ln w="12700">
            <a:solidFill>
              <a:srgbClr val="D8D5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00837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C:\xampp\htdocs\etudiants\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520440"/>
            <a:ext cx="438912" cy="438912"/>
          </a:xfrm>
          <a:prstGeom prst="ellipse">
            <a:avLst/>
          </a:prstGeom>
          <a:solidFill>
            <a:srgbClr val="2A4A3E"/>
          </a:solidFill>
          <a:ln w="12700">
            <a:solidFill>
              <a:srgbClr val="2A4A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520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25780" y="3959352"/>
            <a:ext cx="18288" cy="256032"/>
          </a:xfrm>
          <a:prstGeom prst="rect">
            <a:avLst/>
          </a:prstGeom>
          <a:solidFill>
            <a:srgbClr val="8FA89F"/>
          </a:solidFill>
          <a:ln w="12700">
            <a:solidFill>
              <a:srgbClr val="8FA89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50215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dans le navigateur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14400" y="3776472"/>
            <a:ext cx="7863840" cy="274320"/>
          </a:xfrm>
          <a:prstGeom prst="rect">
            <a:avLst/>
          </a:prstGeom>
          <a:solidFill>
            <a:srgbClr val="F5F3EF"/>
          </a:solidFill>
          <a:ln w="12700">
            <a:solidFill>
              <a:srgbClr val="D8D5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377647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http://localhost/etudiants/index.html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4288536"/>
            <a:ext cx="438912" cy="438912"/>
          </a:xfrm>
          <a:prstGeom prst="ellipse">
            <a:avLst/>
          </a:prstGeom>
          <a:solidFill>
            <a:srgbClr val="2A4A3E"/>
          </a:solidFill>
          <a:ln w="12700">
            <a:solidFill>
              <a:srgbClr val="2A4A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288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" y="42702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save_etudiant.php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14400" y="4544568"/>
            <a:ext cx="7863840" cy="274320"/>
          </a:xfrm>
          <a:prstGeom prst="rect">
            <a:avLst/>
          </a:prstGeom>
          <a:solidFill>
            <a:srgbClr val="F5F3EF"/>
          </a:solidFill>
          <a:ln w="12700">
            <a:solidFill>
              <a:srgbClr val="D8D5C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" y="45445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Doit retourner : {"success": false, "message": "Méthode non autorisée."}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00400"/>
            <a:ext cx="4572000" cy="4572000"/>
          </a:xfrm>
          <a:prstGeom prst="ellipse">
            <a:avLst/>
          </a:prstGeom>
          <a:solidFill>
            <a:srgbClr val="2A4A3E">
              <a:alpha val="40000"/>
            </a:srgbClr>
          </a:solidFill>
          <a:ln w="12700">
            <a:solidFill>
              <a:srgbClr val="2A4A3E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3D6B5C">
              <a:alpha val="35000"/>
            </a:srgbClr>
          </a:solidFill>
          <a:ln w="12700">
            <a:solidFill>
              <a:srgbClr val="3D6B5C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Projet complet et fonctionnel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97280" y="2103120"/>
            <a:ext cx="2194560" cy="1463040"/>
          </a:xfrm>
          <a:prstGeom prst="rect">
            <a:avLst/>
          </a:prstGeom>
          <a:solidFill>
            <a:srgbClr val="2A4A3E">
              <a:alpha val="60000"/>
            </a:srgbClr>
          </a:solidFill>
          <a:ln w="12700">
            <a:solidFill>
              <a:srgbClr val="3D6B5C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48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97280" y="28803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déployer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49040" y="2103120"/>
            <a:ext cx="2194560" cy="1463040"/>
          </a:xfrm>
          <a:prstGeom prst="rect">
            <a:avLst/>
          </a:prstGeom>
          <a:solidFill>
            <a:srgbClr val="2A4A3E">
              <a:alpha val="60000"/>
            </a:srgbClr>
          </a:solidFill>
          <a:ln w="12700">
            <a:solidFill>
              <a:srgbClr val="3D6B5C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2148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749040" y="28803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base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2103120"/>
            <a:ext cx="2194560" cy="1463040"/>
          </a:xfrm>
          <a:prstGeom prst="rect">
            <a:avLst/>
          </a:prstGeom>
          <a:solidFill>
            <a:srgbClr val="2A4A3E">
              <a:alpha val="60000"/>
            </a:srgbClr>
          </a:solidFill>
          <a:ln w="12700">
            <a:solidFill>
              <a:srgbClr val="3D6B5C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148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bcrypt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400800" y="28803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sécurisé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Placez les fichiers dans htdocs · Importez database.sql · Ouvrez localhost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D6B5C"/>
          </a:solidFill>
          <a:ln w="12700">
            <a:solidFill>
              <a:srgbClr val="3D6B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0EE"/>
                </a:solidFill>
              </a:rPr>
              <a:t>Système de Gestion des Étudiants  ·  PHP + MySQL + HTML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Système de Gestion des Étudiants</dc:title>
  <dc:subject>PptxGenJS Presentation</dc:subject>
  <dc:creator>PptxGenJS</dc:creator>
  <cp:lastModifiedBy>PptxGenJS</cp:lastModifiedBy>
  <cp:revision>1</cp:revision>
  <dcterms:created xsi:type="dcterms:W3CDTF">2026-04-14T08:24:50Z</dcterms:created>
  <dcterms:modified xsi:type="dcterms:W3CDTF">2026-04-14T08:24:50Z</dcterms:modified>
</cp:coreProperties>
</file>